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9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160520"/>
            <a:ext cx="12191695" cy="27432"/>
          </a:xfrm>
          <a:prstGeom prst="rect">
            <a:avLst/>
          </a:prstGeom>
          <a:solidFill>
            <a:srgbClr val="377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52044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20">
                <a:solidFill>
                  <a:srgbClr val="D6A54C"/>
                </a:solidFill>
                <a:latin typeface="Menlo"/>
              </a:rPr>
              <a:t>USE CASES · INPUT · OUTPUT · RADIOMICS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83464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Avenir Next"/>
              </a:rPr>
              <a:t>Radiomics Explorer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DCEAE6"/>
                </a:solidFill>
                <a:latin typeface="Avenir Next"/>
              </a:rPr>
              <a:t>Inputs, outputs, and who the pipeline is for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0350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F7276"/>
                </a:solidFill>
                <a:latin typeface="Menlo"/>
              </a:rPr>
              <a:t>Illustrated with the Duke breast MRI cohort</a:t>
            </a:r>
          </a:p>
        </p:txBody>
      </p:sp>
      <p:sp>
        <p:nvSpPr>
          <p:cNvPr id="7" name="Oval 6"/>
          <p:cNvSpPr/>
          <p:nvPr/>
        </p:nvSpPr>
        <p:spPr>
          <a:xfrm>
            <a:off x="9966960" y="6400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 i="0">
                <a:solidFill>
                  <a:srgbClr val="0F2934"/>
                </a:solidFill>
                <a:latin typeface="Menlo"/>
              </a:rPr>
              <a:t>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77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20">
                <a:solidFill>
                  <a:srgbClr val="377F7B"/>
                </a:solidFill>
                <a:latin typeface="Menlo"/>
              </a:rPr>
              <a:t>01 · 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6070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F2934"/>
                </a:solidFill>
                <a:latin typeface="Avenir Next"/>
              </a:rPr>
              <a:t>Who this is for, and when to reach for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88948"/>
            <a:ext cx="10881360" cy="47289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 b="1" i="0">
                <a:solidFill>
                  <a:srgbClr val="377F7B"/>
                </a:solidFill>
                <a:latin typeface="Avenir Next"/>
              </a:rPr>
              <a:t>—  </a:t>
            </a:r>
            <a:r>
              <a:rPr sz="1700" b="1" i="0">
                <a:solidFill>
                  <a:srgbClr val="16333B"/>
                </a:solidFill>
                <a:latin typeface="Avenir Next"/>
              </a:rPr>
              <a:t>A radiomics or imaging-research team with segmented scans and extracted features.</a:t>
            </a:r>
            <a:r>
              <a:rPr sz="1500" b="0" i="0">
                <a:solidFill>
                  <a:srgbClr val="5F7276"/>
                </a:solidFill>
                <a:latin typeface="Avenir Next"/>
              </a:rPr>
              <a:t>  you already have tumor (and optionally peritumoral-vessel) ROIs and a feature CSV — this pipeline turns that into an unbiased read on whether it predicts an outcome.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 b="1" i="0">
                <a:solidFill>
                  <a:srgbClr val="377F7B"/>
                </a:solidFill>
                <a:latin typeface="Avenir Next"/>
              </a:rPr>
              <a:t>—  </a:t>
            </a:r>
            <a:r>
              <a:rPr sz="1700" b="1" i="0">
                <a:solidFill>
                  <a:srgbClr val="16333B"/>
                </a:solidFill>
                <a:latin typeface="Avenir Next"/>
              </a:rPr>
              <a:t>Before investing in a deep-learning model.</a:t>
            </a:r>
            <a:r>
              <a:rPr sz="1500" b="0" i="0">
                <a:solidFill>
                  <a:srgbClr val="5F7276"/>
                </a:solidFill>
                <a:latin typeface="Avenir Next"/>
              </a:rPr>
              <a:t>  get a fast, interpretable, leakage-free conventional baseline first — sparse linear models with visible coefficients, not a black box.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 b="1" i="0">
                <a:solidFill>
                  <a:srgbClr val="377F7B"/>
                </a:solidFill>
                <a:latin typeface="Avenir Next"/>
              </a:rPr>
              <a:t>—  </a:t>
            </a:r>
            <a:r>
              <a:rPr sz="1700" b="1" i="0">
                <a:solidFill>
                  <a:srgbClr val="16333B"/>
                </a:solidFill>
                <a:latin typeface="Avenir Next"/>
              </a:rPr>
              <a:t>Onboarding a new cancer cohort onto an already-validated methodology.</a:t>
            </a:r>
            <a:r>
              <a:rPr sz="1500" b="0" i="0">
                <a:solidFill>
                  <a:srgbClr val="5F7276"/>
                </a:solidFill>
                <a:latin typeface="Avenir Next"/>
              </a:rPr>
              <a:t>  same nested-CV pipeline, same dashboard, applied to a different tumor type or institution.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 b="1" i="0">
                <a:solidFill>
                  <a:srgbClr val="377F7B"/>
                </a:solidFill>
                <a:latin typeface="Avenir Next"/>
              </a:rPr>
              <a:t>—  </a:t>
            </a:r>
            <a:r>
              <a:rPr sz="1700" b="1" i="0">
                <a:solidFill>
                  <a:srgbClr val="16333B"/>
                </a:solidFill>
                <a:latin typeface="Avenir Next"/>
              </a:rPr>
              <a:t>Producing a shareable result for collaborators.</a:t>
            </a:r>
            <a:r>
              <a:rPr sz="1500" b="0" i="0">
                <a:solidFill>
                  <a:srgbClr val="5F7276"/>
                </a:solidFill>
                <a:latin typeface="Avenir Next"/>
              </a:rPr>
              <a:t>  the output is aggregate-only by construction, so it can be handed to a co-investigator or committee without a data-use negotiation.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00">
                <a:solidFill>
                  <a:srgbClr val="5F7276"/>
                </a:solidFill>
                <a:latin typeface="Menlo"/>
              </a:rPr>
              <a:t>RADIOMICS EXPLORER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100">
                <a:solidFill>
                  <a:srgbClr val="5F7276"/>
                </a:solidFill>
                <a:latin typeface="Menl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77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20">
                <a:solidFill>
                  <a:srgbClr val="377F7B"/>
                </a:solidFill>
                <a:latin typeface="Menlo"/>
              </a:rPr>
              <a:t>01 · 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6070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F2934"/>
                </a:solidFill>
                <a:latin typeface="Avenir Next"/>
              </a:rPr>
              <a:t>Three endpoints, one shared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80388"/>
            <a:ext cx="3337560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D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580388"/>
            <a:ext cx="3337560" cy="109728"/>
          </a:xfrm>
          <a:prstGeom prst="rect">
            <a:avLst/>
          </a:prstGeom>
          <a:solidFill>
            <a:srgbClr val="377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54708"/>
            <a:ext cx="2880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0F2934"/>
                </a:solidFill>
                <a:latin typeface="Avenir Next"/>
              </a:rPr>
              <a:t>Overall survival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69108"/>
            <a:ext cx="2880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80">
                <a:solidFill>
                  <a:srgbClr val="377F7B"/>
                </a:solidFill>
                <a:latin typeface="Menlo"/>
              </a:rPr>
              <a:t>TIME-TO-EVENT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3153156"/>
            <a:ext cx="2880360" cy="12700"/>
          </a:xfrm>
          <a:prstGeom prst="rect">
            <a:avLst/>
          </a:prstGeom>
          <a:solidFill>
            <a:srgbClr val="D9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317748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80">
                <a:solidFill>
                  <a:srgbClr val="5F7276"/>
                </a:solidFill>
                <a:latin typeface="Menlo"/>
              </a:rPr>
              <a:t>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555492"/>
            <a:ext cx="2880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6333B"/>
                </a:solidFill>
                <a:latin typeface="Avenir Next"/>
              </a:rPr>
              <a:t>Cox proportional hazards
(elastic-net, L1-weighted)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232148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80">
                <a:solidFill>
                  <a:srgbClr val="5F7276"/>
                </a:solidFill>
                <a:latin typeface="Menlo"/>
              </a:rPr>
              <a:t>PRIMARY METRIC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469892"/>
            <a:ext cx="2880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6333B"/>
                </a:solidFill>
                <a:latin typeface="Avenir Next"/>
              </a:rPr>
              <a:t>Concordance index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826508"/>
            <a:ext cx="2880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5F7276"/>
                </a:solidFill>
                <a:latin typeface="Avenir Next"/>
              </a:rPr>
              <a:t>560 evaluable patients
in the Duke cohort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1580388"/>
            <a:ext cx="3337560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D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1580388"/>
            <a:ext cx="3337560" cy="109728"/>
          </a:xfrm>
          <a:prstGeom prst="rect">
            <a:avLst/>
          </a:prstGeom>
          <a:solidFill>
            <a:srgbClr val="758A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1854708"/>
            <a:ext cx="2880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0F2934"/>
                </a:solidFill>
                <a:latin typeface="Avenir Next"/>
              </a:rPr>
              <a:t>Molecular subtype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769108"/>
            <a:ext cx="2880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80">
                <a:solidFill>
                  <a:srgbClr val="758AC7"/>
                </a:solidFill>
                <a:latin typeface="Menlo"/>
              </a:rPr>
              <a:t>4-CLASS CLASSIFICATION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26280" y="3153156"/>
            <a:ext cx="2880360" cy="12700"/>
          </a:xfrm>
          <a:prstGeom prst="rect">
            <a:avLst/>
          </a:prstGeom>
          <a:solidFill>
            <a:srgbClr val="D9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3317748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80">
                <a:solidFill>
                  <a:srgbClr val="5F7276"/>
                </a:solidFill>
                <a:latin typeface="Menlo"/>
              </a:rPr>
              <a:t>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3555492"/>
            <a:ext cx="2880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6333B"/>
                </a:solidFill>
                <a:latin typeface="Avenir Next"/>
              </a:rPr>
              <a:t>Class-weighted L1
logistic regression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4232148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80">
                <a:solidFill>
                  <a:srgbClr val="5F7276"/>
                </a:solidFill>
                <a:latin typeface="Menlo"/>
              </a:rPr>
              <a:t>PRIMARY METRIC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4469892"/>
            <a:ext cx="2880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6333B"/>
                </a:solidFill>
                <a:latin typeface="Avenir Next"/>
              </a:rPr>
              <a:t>Macro ROC AUC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4826508"/>
            <a:ext cx="2880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5F7276"/>
                </a:solidFill>
                <a:latin typeface="Avenir Next"/>
              </a:rPr>
              <a:t>772 evaluable patients
in the Duke cohort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55280" y="1580388"/>
            <a:ext cx="3337560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D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55280" y="1580388"/>
            <a:ext cx="3337560" cy="109728"/>
          </a:xfrm>
          <a:prstGeom prst="rect">
            <a:avLst/>
          </a:prstGeom>
          <a:solidFill>
            <a:srgbClr val="D6A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83880" y="1854708"/>
            <a:ext cx="2880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0F2934"/>
                </a:solidFill>
                <a:latin typeface="Avenir Next"/>
              </a:rPr>
              <a:t>Pathologic complete
response (pCR)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80" y="2769108"/>
            <a:ext cx="2880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80">
                <a:solidFill>
                  <a:srgbClr val="D6A54C"/>
                </a:solidFill>
                <a:latin typeface="Menlo"/>
              </a:rPr>
              <a:t>BINARY CLASSIFICATION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83880" y="3153156"/>
            <a:ext cx="2880360" cy="12700"/>
          </a:xfrm>
          <a:prstGeom prst="rect">
            <a:avLst/>
          </a:prstGeom>
          <a:solidFill>
            <a:srgbClr val="D9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83880" y="3317748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80">
                <a:solidFill>
                  <a:srgbClr val="5F7276"/>
                </a:solidFill>
                <a:latin typeface="Menlo"/>
              </a:rPr>
              <a:t>MODEL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83880" y="3555492"/>
            <a:ext cx="2880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6333B"/>
                </a:solidFill>
                <a:latin typeface="Avenir Next"/>
              </a:rPr>
              <a:t>Class-weighted L1
logistic regression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83880" y="4232148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80">
                <a:solidFill>
                  <a:srgbClr val="5F7276"/>
                </a:solidFill>
                <a:latin typeface="Menlo"/>
              </a:rPr>
              <a:t>PRIMARY METRIC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83880" y="4469892"/>
            <a:ext cx="2880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6333B"/>
                </a:solidFill>
                <a:latin typeface="Avenir Next"/>
              </a:rPr>
              <a:t>ROC AUC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83880" y="4826508"/>
            <a:ext cx="2880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5F7276"/>
                </a:solidFill>
                <a:latin typeface="Avenir Next"/>
              </a:rPr>
              <a:t>238 evaluable patients
in the Duke cohort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00">
                <a:solidFill>
                  <a:srgbClr val="5F7276"/>
                </a:solidFill>
                <a:latin typeface="Menlo"/>
              </a:rPr>
              <a:t>RADIOMICS EXPLORER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2009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100">
                <a:solidFill>
                  <a:srgbClr val="5F7276"/>
                </a:solidFill>
                <a:latin typeface="Menlo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58A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20">
                <a:solidFill>
                  <a:srgbClr val="758AC7"/>
                </a:solidFill>
                <a:latin typeface="Menlo"/>
              </a:rPr>
              <a:t>01 · 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6070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F2934"/>
                </a:solidFill>
                <a:latin typeface="Avenir Next"/>
              </a:rPr>
              <a:t>A fourth use case: bring your own cohort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88948"/>
            <a:ext cx="10881360" cy="47289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 b="1" i="0">
                <a:solidFill>
                  <a:srgbClr val="758AC7"/>
                </a:solidFill>
                <a:latin typeface="Avenir Next"/>
              </a:rPr>
              <a:t>—  </a:t>
            </a:r>
            <a:r>
              <a:rPr sz="1700" b="1" i="0">
                <a:solidFill>
                  <a:srgbClr val="16333B"/>
                </a:solidFill>
                <a:latin typeface="Avenir Next"/>
              </a:rPr>
              <a:t>Same three endpoints, a different cancer type or institution.</a:t>
            </a:r>
            <a:r>
              <a:rPr sz="1500" b="0" i="0">
                <a:solidFill>
                  <a:srgbClr val="5F7276"/>
                </a:solidFill>
                <a:latin typeface="Avenir Next"/>
              </a:rPr>
              <a:t>  as long as the two input files follow the same naming and sheet conventions described next.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 b="1" i="0">
                <a:solidFill>
                  <a:srgbClr val="758AC7"/>
                </a:solidFill>
                <a:latin typeface="Avenir Next"/>
              </a:rPr>
              <a:t>—  </a:t>
            </a:r>
            <a:r>
              <a:rPr sz="1700" b="1" i="0">
                <a:solidFill>
                  <a:srgbClr val="16333B"/>
                </a:solidFill>
                <a:latin typeface="Avenir Next"/>
              </a:rPr>
              <a:t>Swap the two source files, re-run the two Python scripts.</a:t>
            </a:r>
            <a:r>
              <a:rPr sz="1500" b="0" i="0">
                <a:solidFill>
                  <a:srgbClr val="5F7276"/>
                </a:solidFill>
                <a:latin typeface="Avenir Next"/>
              </a:rPr>
              <a:t>  run_analysis.py produces the dashboard's analysis.json; run_feature_explorer.py produces the Feature Statistics page's data.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 b="1" i="0">
                <a:solidFill>
                  <a:srgbClr val="758AC7"/>
                </a:solidFill>
                <a:latin typeface="Avenir Next"/>
              </a:rPr>
              <a:t>—  </a:t>
            </a:r>
            <a:r>
              <a:rPr sz="1700" b="1" i="0">
                <a:solidFill>
                  <a:srgbClr val="16333B"/>
                </a:solidFill>
                <a:latin typeface="Avenir Next"/>
              </a:rPr>
              <a:t>Load the resulting JSON into the dashboard at runtime.</a:t>
            </a:r>
            <a:r>
              <a:rPr sz="1500" b="0" i="0">
                <a:solidFill>
                  <a:srgbClr val="5F7276"/>
                </a:solidFill>
                <a:latin typeface="Avenir Next"/>
              </a:rPr>
              <a:t>  a “Load dataset” button accepts the pipeline's own output — no code change, no rebuild, nothing leaves the browser.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 b="1" i="0">
                <a:solidFill>
                  <a:srgbClr val="758AC7"/>
                </a:solidFill>
                <a:latin typeface="Avenir Next"/>
              </a:rPr>
              <a:t>—  </a:t>
            </a:r>
            <a:r>
              <a:rPr sz="1700" b="1" i="0">
                <a:solidFill>
                  <a:srgbClr val="16333B"/>
                </a:solidFill>
                <a:latin typeface="Avenir Next"/>
              </a:rPr>
              <a:t>Every number on every page is recomputed from that JSON.</a:t>
            </a:r>
            <a:r>
              <a:rPr sz="1500" b="0" i="0">
                <a:solidFill>
                  <a:srgbClr val="5F7276"/>
                </a:solidFill>
                <a:latin typeface="Avenir Next"/>
              </a:rPr>
              <a:t>  titles, feature counts, interpretation text, and verdicts are all data-driven, so a new cohort renders honestly, not with leftover Duke-specific wording.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00">
                <a:solidFill>
                  <a:srgbClr val="5F7276"/>
                </a:solidFill>
                <a:latin typeface="Menlo"/>
              </a:rPr>
              <a:t>RADIOMICS EXPLORER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100">
                <a:solidFill>
                  <a:srgbClr val="5F7276"/>
                </a:solidFill>
                <a:latin typeface="Menlo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77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20">
                <a:solidFill>
                  <a:srgbClr val="377F7B"/>
                </a:solidFill>
                <a:latin typeface="Menlo"/>
              </a:rPr>
              <a:t>02 · INPUT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6070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F2934"/>
                </a:solidFill>
                <a:latin typeface="Avenir Next"/>
              </a:rPr>
              <a:t>File 1 — the radiomics feature 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5178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5F7276"/>
                </a:solidFill>
                <a:latin typeface="Avenir Next"/>
              </a:rPr>
              <a:t>One CSV, one row per patient. 772 rows × 2,070 columns in the Duke cohort.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91868"/>
            <a:ext cx="1371600" cy="548640"/>
          </a:xfrm>
          <a:prstGeom prst="rect">
            <a:avLst/>
          </a:prstGeom>
          <a:solidFill>
            <a:srgbClr val="0F29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11680" y="1991868"/>
            <a:ext cx="1828800" cy="548640"/>
          </a:xfrm>
          <a:prstGeom prst="rect">
            <a:avLst/>
          </a:prstGeom>
          <a:solidFill>
            <a:srgbClr val="0F29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0" y="1991868"/>
            <a:ext cx="2331720" cy="548640"/>
          </a:xfrm>
          <a:prstGeom prst="rect">
            <a:avLst/>
          </a:prstGeom>
          <a:solidFill>
            <a:srgbClr val="0F29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991868"/>
            <a:ext cx="1691640" cy="548640"/>
          </a:xfrm>
          <a:prstGeom prst="rect">
            <a:avLst/>
          </a:prstGeom>
          <a:solidFill>
            <a:srgbClr val="0F29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863840" y="1991868"/>
            <a:ext cx="457200" cy="548640"/>
          </a:xfrm>
          <a:prstGeom prst="rect">
            <a:avLst/>
          </a:prstGeom>
          <a:solidFill>
            <a:srgbClr val="0F29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321040" y="1991868"/>
            <a:ext cx="1371600" cy="548640"/>
          </a:xfrm>
          <a:prstGeom prst="rect">
            <a:avLst/>
          </a:prstGeom>
          <a:solidFill>
            <a:srgbClr val="0F29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692640" y="1991868"/>
            <a:ext cx="914400" cy="548640"/>
          </a:xfrm>
          <a:prstGeom prst="rect">
            <a:avLst/>
          </a:prstGeom>
          <a:solidFill>
            <a:srgbClr val="0F29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046732"/>
            <a:ext cx="1188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 i="0">
                <a:solidFill>
                  <a:srgbClr val="FFFFFF"/>
                </a:solidFill>
                <a:latin typeface="Menlo"/>
              </a:rPr>
              <a:t>patient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2046732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 i="0">
                <a:solidFill>
                  <a:srgbClr val="FFFFFF"/>
                </a:solidFill>
                <a:latin typeface="Menlo"/>
              </a:rPr>
              <a:t>original_firstorder
_energy_vessel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2046732"/>
            <a:ext cx="2148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 i="0">
                <a:solidFill>
                  <a:srgbClr val="FFFFFF"/>
                </a:solidFill>
                <a:latin typeface="Menlo"/>
              </a:rPr>
              <a:t>log-sigma-5-0-mm-3d_glszm
_graylevelnonuniformity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046732"/>
            <a:ext cx="1508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 i="0">
                <a:solidFill>
                  <a:srgbClr val="FFFFFF"/>
                </a:solidFill>
                <a:latin typeface="Menlo"/>
              </a:rPr>
              <a:t>wavelet-lhh_firstorder
_energy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0" y="2046732"/>
            <a:ext cx="274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 i="0">
                <a:solidFill>
                  <a:srgbClr val="FFFFFF"/>
                </a:solidFill>
                <a:latin typeface="Menlo"/>
              </a:rPr>
              <a:t>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046732"/>
            <a:ext cx="1188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 i="0">
                <a:solidFill>
                  <a:srgbClr val="FFFFFF"/>
                </a:solidFill>
                <a:latin typeface="Menlo"/>
              </a:rPr>
              <a:t>menopause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0" y="2046732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 i="0">
                <a:solidFill>
                  <a:srgbClr val="FFFFFF"/>
                </a:solidFill>
                <a:latin typeface="Menlo"/>
              </a:rPr>
              <a:t>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2540508"/>
            <a:ext cx="1371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D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011680" y="2540508"/>
            <a:ext cx="1828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D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840480" y="2540508"/>
            <a:ext cx="23317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D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2200" y="2540508"/>
            <a:ext cx="16916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D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863840" y="2540508"/>
            <a:ext cx="457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D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321040" y="2540508"/>
            <a:ext cx="1371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D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692640" y="2540508"/>
            <a:ext cx="9144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D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265938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6333B"/>
                </a:solidFill>
                <a:latin typeface="Menlo"/>
              </a:rPr>
              <a:t>Patient_001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03120" y="265938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6333B"/>
                </a:solidFill>
                <a:latin typeface="Menlo"/>
              </a:rPr>
              <a:t>1.72e11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31920" y="2659380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6333B"/>
                </a:solidFill>
                <a:latin typeface="Menlo"/>
              </a:rPr>
              <a:t>812.4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2659380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6333B"/>
                </a:solidFill>
                <a:latin typeface="Menlo"/>
              </a:rPr>
              <a:t>0.0091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80" y="265938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6333B"/>
                </a:solidFill>
                <a:latin typeface="Menlo"/>
              </a:rPr>
              <a:t>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265938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6333B"/>
                </a:solidFill>
                <a:latin typeface="Menlo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84080" y="26593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6333B"/>
                </a:solidFill>
                <a:latin typeface="Menlo"/>
              </a:rPr>
              <a:t>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2997708"/>
            <a:ext cx="1371600" cy="457200"/>
          </a:xfrm>
          <a:prstGeom prst="rect">
            <a:avLst/>
          </a:prstGeom>
          <a:solidFill>
            <a:srgbClr val="F3EEE3"/>
          </a:solidFill>
          <a:ln w="6350">
            <a:solidFill>
              <a:srgbClr val="D9DD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011680" y="2997708"/>
            <a:ext cx="1828800" cy="457200"/>
          </a:xfrm>
          <a:prstGeom prst="rect">
            <a:avLst/>
          </a:prstGeom>
          <a:solidFill>
            <a:srgbClr val="F3EEE3"/>
          </a:solidFill>
          <a:ln w="6350">
            <a:solidFill>
              <a:srgbClr val="D9DD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840480" y="2997708"/>
            <a:ext cx="2331720" cy="457200"/>
          </a:xfrm>
          <a:prstGeom prst="rect">
            <a:avLst/>
          </a:prstGeom>
          <a:solidFill>
            <a:srgbClr val="F3EEE3"/>
          </a:solidFill>
          <a:ln w="6350">
            <a:solidFill>
              <a:srgbClr val="D9DD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72200" y="2997708"/>
            <a:ext cx="1691640" cy="457200"/>
          </a:xfrm>
          <a:prstGeom prst="rect">
            <a:avLst/>
          </a:prstGeom>
          <a:solidFill>
            <a:srgbClr val="F3EEE3"/>
          </a:solidFill>
          <a:ln w="6350">
            <a:solidFill>
              <a:srgbClr val="D9DD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863840" y="2997708"/>
            <a:ext cx="457200" cy="457200"/>
          </a:xfrm>
          <a:prstGeom prst="rect">
            <a:avLst/>
          </a:prstGeom>
          <a:solidFill>
            <a:srgbClr val="F3EEE3"/>
          </a:solidFill>
          <a:ln w="6350">
            <a:solidFill>
              <a:srgbClr val="D9DD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321040" y="2997708"/>
            <a:ext cx="1371600" cy="457200"/>
          </a:xfrm>
          <a:prstGeom prst="rect">
            <a:avLst/>
          </a:prstGeom>
          <a:solidFill>
            <a:srgbClr val="F3EEE3"/>
          </a:solidFill>
          <a:ln w="6350">
            <a:solidFill>
              <a:srgbClr val="D9DD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692640" y="2997708"/>
            <a:ext cx="914400" cy="457200"/>
          </a:xfrm>
          <a:prstGeom prst="rect">
            <a:avLst/>
          </a:prstGeom>
          <a:solidFill>
            <a:srgbClr val="F3EEE3"/>
          </a:solidFill>
          <a:ln w="6350">
            <a:solidFill>
              <a:srgbClr val="D9DD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311658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6333B"/>
                </a:solidFill>
                <a:latin typeface="Menlo"/>
              </a:rPr>
              <a:t>Patient_002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103120" y="311658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6333B"/>
                </a:solidFill>
                <a:latin typeface="Menlo"/>
              </a:rPr>
              <a:t>3.95e11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931920" y="3116580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6333B"/>
                </a:solidFill>
                <a:latin typeface="Menlo"/>
              </a:rPr>
              <a:t>946.1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3116580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6333B"/>
                </a:solidFill>
                <a:latin typeface="Menlo"/>
              </a:rPr>
              <a:t>0.0084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55280" y="311658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6333B"/>
                </a:solidFill>
                <a:latin typeface="Menlo"/>
              </a:rPr>
              <a:t>…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12480" y="311658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6333B"/>
                </a:solidFill>
                <a:latin typeface="Menlo"/>
              </a:rPr>
              <a:t>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84080" y="31165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6333B"/>
                </a:solidFill>
                <a:latin typeface="Menlo"/>
              </a:rPr>
              <a:t>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0080" y="3454908"/>
            <a:ext cx="1371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D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011680" y="3454908"/>
            <a:ext cx="1828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D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840480" y="3454908"/>
            <a:ext cx="23317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D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172200" y="3454908"/>
            <a:ext cx="16916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D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863840" y="3454908"/>
            <a:ext cx="457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D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321040" y="3454908"/>
            <a:ext cx="1371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D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692640" y="3454908"/>
            <a:ext cx="9144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D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31520" y="357378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6333B"/>
                </a:solidFill>
                <a:latin typeface="Menlo"/>
              </a:rPr>
              <a:t>Patient_003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103120" y="357378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6333B"/>
                </a:solidFill>
                <a:latin typeface="Menlo"/>
              </a:rPr>
              <a:t>1.33e9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931920" y="3573780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6333B"/>
                </a:solidFill>
                <a:latin typeface="Menlo"/>
              </a:rPr>
              <a:t>705.8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63640" y="3573780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6333B"/>
                </a:solidFill>
                <a:latin typeface="Menlo"/>
              </a:rPr>
              <a:t>0.0117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955280" y="357378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6333B"/>
                </a:solidFill>
                <a:latin typeface="Menlo"/>
              </a:rPr>
              <a:t>…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12480" y="357378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6333B"/>
                </a:solidFill>
                <a:latin typeface="Menlo"/>
              </a:rPr>
              <a:t>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784080" y="35737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6333B"/>
                </a:solidFill>
                <a:latin typeface="Menlo"/>
              </a:rPr>
              <a:t>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0080" y="398526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5F7276"/>
                </a:solidFill>
                <a:latin typeface="Avenir Next"/>
              </a:rPr>
              <a:t>Illustrative values shown — not real patient data.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0080" y="441502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377F7B"/>
                </a:solidFill>
                <a:latin typeface="Menlo"/>
              </a:rPr>
              <a:t>COLUMN CONVENTION: {transform}_{family}_{measure}[_vessel]  ·  no suffix = tumor region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0080" y="482650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6333B"/>
                </a:solidFill>
                <a:latin typeface="Avenir Next"/>
              </a:rPr>
              <a:t>—  2,064 numeric radiomic feature columns, plus patient + 4 legacy clinical columns dropped before modeling.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0080" y="519226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6333B"/>
                </a:solidFill>
                <a:latin typeface="Avenir Next"/>
              </a:rPr>
              <a:t>—  Patient IDs must be unique — the loader raises an error otherwise.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0080" y="555802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6333B"/>
                </a:solidFill>
                <a:latin typeface="Avenir Next"/>
              </a:rPr>
              <a:t>—  Every feature value must be finite. Any NaN or Inf anywhere in the matrix raises an error; nothing is silently imputed.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00">
                <a:solidFill>
                  <a:srgbClr val="5F7276"/>
                </a:solidFill>
                <a:latin typeface="Menlo"/>
              </a:rPr>
              <a:t>RADIOMICS EXPLORER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82009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100">
                <a:solidFill>
                  <a:srgbClr val="5F7276"/>
                </a:solidFill>
                <a:latin typeface="Menlo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77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20">
                <a:solidFill>
                  <a:srgbClr val="377F7B"/>
                </a:solidFill>
                <a:latin typeface="Menlo"/>
              </a:rPr>
              <a:t>02 · INPUT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6070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F2934"/>
                </a:solidFill>
                <a:latin typeface="Avenir Next"/>
              </a:rPr>
              <a:t>File 2 — the clinical workbook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5178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5F7276"/>
                </a:solidFill>
                <a:latin typeface="Avenir Next"/>
              </a:rPr>
              <a:t>One Excel file, 5 sheets (3 consumed). Patient ID joins every sheet back to the radiomics table.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91868"/>
            <a:ext cx="3429000" cy="2880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D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991868"/>
            <a:ext cx="3429000" cy="457200"/>
          </a:xfrm>
          <a:prstGeom prst="roundRect">
            <a:avLst>
              <a:gd name="adj" fmla="val 0"/>
            </a:avLst>
          </a:prstGeom>
          <a:solidFill>
            <a:srgbClr val="0F29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101596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Menlo"/>
              </a:rPr>
              <a:t>Demography_tumortypes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86228"/>
            <a:ext cx="3063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6333B"/>
                </a:solidFill>
                <a:latin typeface="Avenir Next"/>
              </a:rPr>
              <a:t>·  Patient 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878836"/>
            <a:ext cx="3063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6333B"/>
                </a:solidFill>
                <a:latin typeface="Avenir Next"/>
              </a:rPr>
              <a:t>·  Mol Subtype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171444"/>
            <a:ext cx="3063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6333B"/>
                </a:solidFill>
                <a:latin typeface="Avenir Next"/>
              </a:rPr>
              <a:t>·  OS_STATUS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464052"/>
            <a:ext cx="3063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6333B"/>
                </a:solidFill>
                <a:latin typeface="Avenir Next"/>
              </a:rPr>
              <a:t>·  OS_MONTHS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756660"/>
            <a:ext cx="3063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6333B"/>
                </a:solidFill>
                <a:latin typeface="Avenir Next"/>
              </a:rPr>
              <a:t>·  Nottingham grade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49268"/>
            <a:ext cx="3063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6333B"/>
                </a:solidFill>
                <a:latin typeface="Avenir Next"/>
              </a:rPr>
              <a:t>·  Staging (N / T)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" y="4323588"/>
            <a:ext cx="3099816" cy="12700"/>
          </a:xfrm>
          <a:prstGeom prst="rect">
            <a:avLst/>
          </a:prstGeom>
          <a:solidFill>
            <a:srgbClr val="D9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4433316"/>
            <a:ext cx="309981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377F7B"/>
                </a:solidFill>
                <a:latin typeface="Avenir Next"/>
              </a:rPr>
              <a:t>→ Subtype label · → Survival label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354580.0" y="4872228"/>
            <a:ext cx="0.0" cy="411480"/>
          </a:xfrm>
          <a:prstGeom prst="line">
            <a:avLst/>
          </a:prstGeom>
          <a:ln w="19050">
            <a:solidFill>
              <a:srgbClr val="5F727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325112" y="1991868"/>
            <a:ext cx="3429000" cy="2880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D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325112" y="1991868"/>
            <a:ext cx="3429000" cy="457200"/>
          </a:xfrm>
          <a:prstGeom prst="roundRect">
            <a:avLst>
              <a:gd name="adj" fmla="val 0"/>
            </a:avLst>
          </a:prstGeom>
          <a:solidFill>
            <a:srgbClr val="0F29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9704" y="2101596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Menlo"/>
              </a:rPr>
              <a:t>Cancer_specific_clinical_data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7992" y="2586228"/>
            <a:ext cx="3063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6333B"/>
                </a:solidFill>
                <a:latin typeface="Avenir Next"/>
              </a:rPr>
              <a:t>·  Patient 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07992" y="2878836"/>
            <a:ext cx="3063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6333B"/>
                </a:solidFill>
                <a:latin typeface="Avenir Next"/>
              </a:rPr>
              <a:t>·  Menopause (at diagnosis)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07992" y="3171444"/>
            <a:ext cx="3063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6333B"/>
                </a:solidFill>
                <a:latin typeface="Avenir Next"/>
              </a:rPr>
              <a:t>·  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07992" y="3464052"/>
            <a:ext cx="3063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6333B"/>
                </a:solidFill>
                <a:latin typeface="Avenir Next"/>
              </a:rPr>
              <a:t>·  PR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07992" y="3756660"/>
            <a:ext cx="3063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6333B"/>
                </a:solidFill>
                <a:latin typeface="Avenir Next"/>
              </a:rPr>
              <a:t>·  HER2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89704" y="4323588"/>
            <a:ext cx="3099816" cy="12700"/>
          </a:xfrm>
          <a:prstGeom prst="rect">
            <a:avLst/>
          </a:prstGeom>
          <a:solidFill>
            <a:srgbClr val="D9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89704" y="4433316"/>
            <a:ext cx="309981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758AC7"/>
                </a:solidFill>
                <a:latin typeface="Avenir Next"/>
              </a:rPr>
              <a:t>→ Descriptive context only — never a predictor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039612.0" y="4872228"/>
            <a:ext cx="0.0" cy="411480"/>
          </a:xfrm>
          <a:prstGeom prst="line">
            <a:avLst/>
          </a:prstGeom>
          <a:ln w="19050">
            <a:solidFill>
              <a:srgbClr val="5F727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8010144" y="1991868"/>
            <a:ext cx="3429000" cy="2880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D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010144" y="1991868"/>
            <a:ext cx="3429000" cy="457200"/>
          </a:xfrm>
          <a:prstGeom prst="roundRect">
            <a:avLst>
              <a:gd name="adj" fmla="val 0"/>
            </a:avLst>
          </a:prstGeom>
          <a:solidFill>
            <a:srgbClr val="0F29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74736" y="2101596"/>
            <a:ext cx="3099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Menlo"/>
              </a:rPr>
              <a:t>drugs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93024" y="2586228"/>
            <a:ext cx="3063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6333B"/>
                </a:solidFill>
                <a:latin typeface="Avenir Next"/>
              </a:rPr>
              <a:t>·  Patient ID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93024" y="2878836"/>
            <a:ext cx="3063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6333B"/>
                </a:solidFill>
                <a:latin typeface="Avenir Next"/>
              </a:rPr>
              <a:t>·  Received Neoadjuvant Therapy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93024" y="3171444"/>
            <a:ext cx="3063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6333B"/>
                </a:solidFill>
                <a:latin typeface="Avenir Next"/>
              </a:rPr>
              <a:t>·  Overall Near-complete Response
(Stricter Definition)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74736" y="4323588"/>
            <a:ext cx="3099816" cy="12700"/>
          </a:xfrm>
          <a:prstGeom prst="rect">
            <a:avLst/>
          </a:prstGeom>
          <a:solidFill>
            <a:srgbClr val="D9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74736" y="4433316"/>
            <a:ext cx="309981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D6A54C"/>
                </a:solidFill>
                <a:latin typeface="Avenir Next"/>
              </a:rPr>
              <a:t>→ pCR proxy label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724644.0" y="4872228"/>
            <a:ext cx="0.0" cy="411480"/>
          </a:xfrm>
          <a:prstGeom prst="line">
            <a:avLst/>
          </a:prstGeom>
          <a:ln w="19050">
            <a:solidFill>
              <a:srgbClr val="5F727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3124047" y="5329428"/>
            <a:ext cx="5943600" cy="548640"/>
          </a:xfrm>
          <a:prstGeom prst="roundRect">
            <a:avLst>
              <a:gd name="adj" fmla="val 15000"/>
            </a:avLst>
          </a:prstGeom>
          <a:solidFill>
            <a:srgbClr val="0F29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124047" y="5329428"/>
            <a:ext cx="5943600" cy="54864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ctr"/>
            <a:r>
              <a:rPr sz="1300" b="1" i="0">
                <a:solidFill>
                  <a:srgbClr val="D6A54C"/>
                </a:solidFill>
                <a:latin typeface="Menlo"/>
              </a:rPr>
              <a:t>Joined on Patient ID — exact match, validated one-to-one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610666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5F7276"/>
                </a:solidFill>
                <a:latin typeface="Avenir Next"/>
              </a:rPr>
              <a:t>Headers live on row 5 of each sheet, per the source workbook's convention — the loader skips to it explicitly.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00">
                <a:solidFill>
                  <a:srgbClr val="5F7276"/>
                </a:solidFill>
                <a:latin typeface="Menlo"/>
              </a:rPr>
              <a:t>RADIOMICS EXPLORER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82009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100">
                <a:solidFill>
                  <a:srgbClr val="5F7276"/>
                </a:solidFill>
                <a:latin typeface="Menlo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77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20">
                <a:solidFill>
                  <a:srgbClr val="377F7B"/>
                </a:solidFill>
                <a:latin typeface="Menlo"/>
              </a:rPr>
              <a:t>02 · INPUT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6070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F2934"/>
                </a:solidFill>
                <a:latin typeface="Avenir Next"/>
              </a:rPr>
              <a:t>What the input has to pass before it's usable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88948"/>
            <a:ext cx="10881360" cy="47289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 b="1" i="0">
                <a:solidFill>
                  <a:srgbClr val="377F7B"/>
                </a:solidFill>
                <a:latin typeface="Avenir Next"/>
              </a:rPr>
              <a:t>—  </a:t>
            </a:r>
            <a:r>
              <a:rPr sz="1700" b="1" i="0">
                <a:solidFill>
                  <a:srgbClr val="16333B"/>
                </a:solidFill>
                <a:latin typeface="Avenir Next"/>
              </a:rPr>
              <a:t>Radiomics and every clinical sheet join one-to-one on an exact patient ID.</a:t>
            </a:r>
            <a:r>
              <a:rPr sz="1500" b="0" i="0">
                <a:solidFill>
                  <a:srgbClr val="5F7276"/>
                </a:solidFill>
                <a:latin typeface="Avenir Next"/>
              </a:rPr>
              <a:t>  the loader validates this explicitly and fails loudly on any mismatch, rather than silently dropping or duplicating rows.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 b="1" i="0">
                <a:solidFill>
                  <a:srgbClr val="377F7B"/>
                </a:solidFill>
                <a:latin typeface="Avenir Next"/>
              </a:rPr>
              <a:t>—  </a:t>
            </a:r>
            <a:r>
              <a:rPr sz="1700" b="1" i="0">
                <a:solidFill>
                  <a:srgbClr val="16333B"/>
                </a:solidFill>
                <a:latin typeface="Avenir Next"/>
              </a:rPr>
              <a:t>The radiomic matrix must be completely finite.</a:t>
            </a:r>
            <a:r>
              <a:rPr sz="1500" b="0" i="0">
                <a:solidFill>
                  <a:srgbClr val="5F7276"/>
                </a:solidFill>
                <a:latin typeface="Avenir Next"/>
              </a:rPr>
              <a:t>  any NaN or Inf anywhere raises an error before modeling starts — there is no silent imputation.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 b="1" i="0">
                <a:solidFill>
                  <a:srgbClr val="377F7B"/>
                </a:solidFill>
                <a:latin typeface="Avenir Next"/>
              </a:rPr>
              <a:t>—  </a:t>
            </a:r>
            <a:r>
              <a:rPr sz="1700" b="1" i="0">
                <a:solidFill>
                  <a:srgbClr val="16333B"/>
                </a:solidFill>
                <a:latin typeface="Avenir Next"/>
              </a:rPr>
              <a:t>Patient IDs must be unique in the radiomics table.</a:t>
            </a:r>
            <a:r>
              <a:rPr sz="1500" b="0" i="0">
                <a:solidFill>
                  <a:srgbClr val="5F7276"/>
                </a:solidFill>
                <a:latin typeface="Avenir Next"/>
              </a:rPr>
              <a:t>  a duplicated ID is treated as a data error, not averaged or deduplicated automatically.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 b="1" i="0">
                <a:solidFill>
                  <a:srgbClr val="377F7B"/>
                </a:solidFill>
                <a:latin typeface="Avenir Next"/>
              </a:rPr>
              <a:t>—  </a:t>
            </a:r>
            <a:r>
              <a:rPr sz="1700" b="1" i="0">
                <a:solidFill>
                  <a:srgbClr val="16333B"/>
                </a:solidFill>
                <a:latin typeface="Avenir Next"/>
              </a:rPr>
              <a:t>Each endpoint defines its own inclusion rule and reports what it excluded.</a:t>
            </a:r>
            <a:r>
              <a:rPr sz="1500" b="0" i="0">
                <a:solidFill>
                  <a:srgbClr val="5F7276"/>
                </a:solidFill>
                <a:latin typeface="Avenir Next"/>
              </a:rPr>
              <a:t>  e.g. survival requires a known status and a positive follow-up time; pCR requires a known strict-response value — excluded counts are written into the output, never hidden.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00">
                <a:solidFill>
                  <a:srgbClr val="5F7276"/>
                </a:solidFill>
                <a:latin typeface="Menlo"/>
              </a:rPr>
              <a:t>RADIOMICS EXPLORER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100">
                <a:solidFill>
                  <a:srgbClr val="5F7276"/>
                </a:solidFill>
                <a:latin typeface="Menlo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77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20">
                <a:solidFill>
                  <a:srgbClr val="377F7B"/>
                </a:solidFill>
                <a:latin typeface="Menlo"/>
              </a:rPr>
              <a:t>03 · RADIOMICS REQUIRED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6070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F2934"/>
                </a:solidFill>
                <a:latin typeface="Avenir Next"/>
              </a:rPr>
              <a:t>The feature taxonomy behind the 2,064 columns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26108"/>
            <a:ext cx="14173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F2934"/>
                </a:solidFill>
                <a:latin typeface="Avenir Next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20468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 spc="40">
                <a:solidFill>
                  <a:srgbClr val="5F7276"/>
                </a:solidFill>
                <a:latin typeface="Menlo"/>
              </a:rPr>
              <a:t>REGIONS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57400" y="1626108"/>
            <a:ext cx="5029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0F2934"/>
                </a:solidFill>
                <a:latin typeface="Avenir Next"/>
              </a:rPr>
              <a:t>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1626108"/>
            <a:ext cx="14173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F2934"/>
                </a:solidFill>
                <a:latin typeface="Avenir Next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2220468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 spc="40">
                <a:solidFill>
                  <a:srgbClr val="5F7276"/>
                </a:solidFill>
                <a:latin typeface="Menlo"/>
              </a:rPr>
              <a:t>TRANSFORMS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40" y="1626108"/>
            <a:ext cx="5029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0F2934"/>
                </a:solidFill>
                <a:latin typeface="Avenir Next"/>
              </a:rPr>
              <a:t>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626108"/>
            <a:ext cx="14173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F2934"/>
                </a:solidFill>
                <a:latin typeface="Avenir Next"/>
              </a:rPr>
              <a:t>86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220468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 spc="40">
                <a:solidFill>
                  <a:srgbClr val="5F7276"/>
                </a:solidFill>
                <a:latin typeface="Menlo"/>
              </a:rPr>
              <a:t>MEASURES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7880" y="1626108"/>
            <a:ext cx="5029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0F2934"/>
                </a:solidFill>
                <a:latin typeface="Avenir Next"/>
              </a:rPr>
              <a:t>=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626108"/>
            <a:ext cx="14173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D6A54C"/>
                </a:solidFill>
                <a:latin typeface="Avenir Next"/>
              </a:rPr>
              <a:t>2,064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220468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 spc="40">
                <a:solidFill>
                  <a:srgbClr val="5F7276"/>
                </a:solidFill>
                <a:latin typeface="Menlo"/>
              </a:rPr>
              <a:t>FEATURES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769108"/>
            <a:ext cx="3429000" cy="34030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D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2769108"/>
            <a:ext cx="3429000" cy="457200"/>
          </a:xfrm>
          <a:prstGeom prst="rect">
            <a:avLst/>
          </a:prstGeom>
          <a:solidFill>
            <a:srgbClr val="DCE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2878836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">
                <a:solidFill>
                  <a:srgbClr val="16333B"/>
                </a:solidFill>
                <a:latin typeface="Menlo"/>
              </a:rPr>
              <a:t>REGIONS ·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3454908"/>
            <a:ext cx="30266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6333B"/>
                </a:solidFill>
                <a:latin typeface="Avenir Next"/>
              </a:rPr>
              <a:t>·  Tumor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3838956"/>
            <a:ext cx="302666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6333B"/>
                </a:solidFill>
                <a:latin typeface="Avenir Next"/>
              </a:rPr>
              <a:t>·  Peritumoral vessel — mirrors
every tumor-region feature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2769108"/>
            <a:ext cx="3429000" cy="34030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D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89120" y="2769108"/>
            <a:ext cx="3429000" cy="457200"/>
          </a:xfrm>
          <a:prstGeom prst="rect">
            <a:avLst/>
          </a:prstGeom>
          <a:solidFill>
            <a:srgbClr val="E6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2878836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">
                <a:solidFill>
                  <a:srgbClr val="16333B"/>
                </a:solidFill>
                <a:latin typeface="Menlo"/>
              </a:rPr>
              <a:t>IMAGE TRANSFORMS · 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0288" y="3454908"/>
            <a:ext cx="30266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6333B"/>
                </a:solidFill>
                <a:latin typeface="Avenir Next"/>
              </a:rPr>
              <a:t>·  Original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0288" y="3838956"/>
            <a:ext cx="302666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6333B"/>
                </a:solidFill>
                <a:latin typeface="Avenir Next"/>
              </a:rPr>
              <a:t>·  Laplacian-of-Gaussian × 3
(σ = 1.0, 3.0, 5.0 mm)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90288" y="4607052"/>
            <a:ext cx="302666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6333B"/>
                </a:solidFill>
                <a:latin typeface="Avenir Next"/>
              </a:rPr>
              <a:t>·  Wavelet decomposition × 8
(LLL, LLH, LHL, LHH, HLL, HLH, HHL, HHH)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60" y="2769108"/>
            <a:ext cx="3429000" cy="34030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D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38160" y="2769108"/>
            <a:ext cx="3429000" cy="457200"/>
          </a:xfrm>
          <a:prstGeom prst="rect">
            <a:avLst/>
          </a:prstGeom>
          <a:solidFill>
            <a:srgbClr val="F3E5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2878836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">
                <a:solidFill>
                  <a:srgbClr val="16333B"/>
                </a:solidFill>
                <a:latin typeface="Menlo"/>
              </a:rPr>
              <a:t>FEATURE FAMILIES · 5 (86/region/transform)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9328" y="3454908"/>
            <a:ext cx="30266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6333B"/>
                </a:solidFill>
                <a:latin typeface="Avenir Next"/>
              </a:rPr>
              <a:t>·  First order — 18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39328" y="3838956"/>
            <a:ext cx="30266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6333B"/>
                </a:solidFill>
                <a:latin typeface="Avenir Next"/>
              </a:rPr>
              <a:t>·  GLCM — 22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39328" y="4223004"/>
            <a:ext cx="30266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6333B"/>
                </a:solidFill>
                <a:latin typeface="Avenir Next"/>
              </a:rPr>
              <a:t>·  GLRLM — 16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39328" y="4607052"/>
            <a:ext cx="30266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6333B"/>
                </a:solidFill>
                <a:latin typeface="Avenir Next"/>
              </a:rPr>
              <a:t>·  GLSZM — 16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39328" y="4991100"/>
            <a:ext cx="30266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6333B"/>
                </a:solidFill>
                <a:latin typeface="Avenir Next"/>
              </a:rPr>
              <a:t>·  GLDM — 14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00">
                <a:solidFill>
                  <a:srgbClr val="5F7276"/>
                </a:solidFill>
                <a:latin typeface="Menlo"/>
              </a:rPr>
              <a:t>RADIOMICS EXPLORER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2009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100">
                <a:solidFill>
                  <a:srgbClr val="5F7276"/>
                </a:solidFill>
                <a:latin typeface="Menlo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77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20">
                <a:solidFill>
                  <a:srgbClr val="377F7B"/>
                </a:solidFill>
                <a:latin typeface="Menlo"/>
              </a:rPr>
              <a:t>03 · RADIOMICS REQUIRED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6070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F2934"/>
                </a:solidFill>
                <a:latin typeface="Avenir Next"/>
              </a:rPr>
              <a:t>What each feature family actually captures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5178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5F7276"/>
                </a:solidFill>
                <a:latin typeface="Avenir Next"/>
              </a:rPr>
              <a:t>Descriptions reused verbatim from the dashboard's own Feature Statistics page.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3758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60">
                <a:solidFill>
                  <a:srgbClr val="5F7276"/>
                </a:solidFill>
                <a:latin typeface="Menlo"/>
              </a:rPr>
              <a:t>FAMILY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69080" y="2037588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60">
                <a:solidFill>
                  <a:srgbClr val="5F7276"/>
                </a:solidFill>
                <a:latin typeface="Menlo"/>
              </a:rPr>
              <a:t>APPROX. COUNT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2037588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60">
                <a:solidFill>
                  <a:srgbClr val="5F7276"/>
                </a:solidFill>
                <a:latin typeface="Menlo"/>
              </a:rPr>
              <a:t>WHAT IT CAPTURES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385060"/>
            <a:ext cx="54864" cy="822960"/>
          </a:xfrm>
          <a:prstGeom prst="rect">
            <a:avLst/>
          </a:prstGeom>
          <a:solidFill>
            <a:srgbClr val="377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430780"/>
            <a:ext cx="30175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0F2934"/>
                </a:solidFill>
                <a:latin typeface="Avenir Next"/>
              </a:rPr>
              <a:t>First-order intensity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9080" y="2430780"/>
            <a:ext cx="2011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1">
                <a:solidFill>
                  <a:srgbClr val="5F7276"/>
                </a:solidFill>
                <a:latin typeface="Avenir Next"/>
              </a:rPr>
              <a:t>18 / region / transform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430780"/>
            <a:ext cx="48463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6333B"/>
                </a:solidFill>
                <a:latin typeface="Avenir Next"/>
              </a:rPr>
              <a:t>Overall signal intensity and intensity variability within the region.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332480"/>
            <a:ext cx="10881360" cy="12700"/>
          </a:xfrm>
          <a:prstGeom prst="rect">
            <a:avLst/>
          </a:prstGeom>
          <a:solidFill>
            <a:srgbClr val="D9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345180"/>
            <a:ext cx="54864" cy="822960"/>
          </a:xfrm>
          <a:prstGeom prst="rect">
            <a:avLst/>
          </a:prstGeom>
          <a:solidFill>
            <a:srgbClr val="758A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390900"/>
            <a:ext cx="30175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0F2934"/>
                </a:solidFill>
                <a:latin typeface="Avenir Next"/>
              </a:rPr>
              <a:t>Texture — GLCM / GLRLM / GLSZM / GLDM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9080" y="3390900"/>
            <a:ext cx="2011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1">
                <a:solidFill>
                  <a:srgbClr val="5F7276"/>
                </a:solidFill>
                <a:latin typeface="Avenir Next"/>
              </a:rPr>
              <a:t>68 / region / transform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3390900"/>
            <a:ext cx="48463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6333B"/>
                </a:solidFill>
                <a:latin typeface="Avenir Next"/>
              </a:rPr>
              <a:t>Intratumoral heterogeneity, uniformity, coarseness, or local contrast.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292600"/>
            <a:ext cx="10881360" cy="12700"/>
          </a:xfrm>
          <a:prstGeom prst="rect">
            <a:avLst/>
          </a:prstGeom>
          <a:solidFill>
            <a:srgbClr val="D9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4305300"/>
            <a:ext cx="54864" cy="822960"/>
          </a:xfrm>
          <a:prstGeom prst="rect">
            <a:avLst/>
          </a:prstGeom>
          <a:solidFill>
            <a:srgbClr val="D6A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351020"/>
            <a:ext cx="30175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0F2934"/>
                </a:solidFill>
                <a:latin typeface="Avenir Next"/>
              </a:rPr>
              <a:t>Wavelet / LoG-filtered texture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69080" y="4351020"/>
            <a:ext cx="2011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1">
                <a:solidFill>
                  <a:srgbClr val="5F7276"/>
                </a:solidFill>
                <a:latin typeface="Avenir Next"/>
              </a:rPr>
              <a:t>recomputed across 11 of 12 transforms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4351020"/>
            <a:ext cx="48463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6333B"/>
                </a:solidFill>
                <a:latin typeface="Avenir Next"/>
              </a:rPr>
              <a:t>The same first-order and texture measures recomputed on filtered images, capturing patterns at different spatial scales.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5252720"/>
            <a:ext cx="10881360" cy="12700"/>
          </a:xfrm>
          <a:prstGeom prst="rect">
            <a:avLst/>
          </a:prstGeom>
          <a:solidFill>
            <a:srgbClr val="D9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5265420"/>
            <a:ext cx="54864" cy="822960"/>
          </a:xfrm>
          <a:prstGeom prst="rect">
            <a:avLst/>
          </a:prstGeom>
          <a:solidFill>
            <a:srgbClr val="C66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311140"/>
            <a:ext cx="30175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0F2934"/>
                </a:solidFill>
                <a:latin typeface="Avenir Next"/>
              </a:rPr>
              <a:t>Vessel region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69080" y="5311140"/>
            <a:ext cx="2011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1">
                <a:solidFill>
                  <a:srgbClr val="5F7276"/>
                </a:solidFill>
                <a:latin typeface="Avenir Next"/>
              </a:rPr>
              <a:t>mirrors the tumor region exactly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5311140"/>
            <a:ext cx="48463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6333B"/>
                </a:solidFill>
                <a:latin typeface="Avenir Next"/>
              </a:rPr>
              <a:t>Peritumoral vascular burden, geometry, tortuosity, and heterogeneity, computed independently of the tumor.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6212840"/>
            <a:ext cx="10881360" cy="12700"/>
          </a:xfrm>
          <a:prstGeom prst="rect">
            <a:avLst/>
          </a:prstGeom>
          <a:solidFill>
            <a:srgbClr val="D9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00">
                <a:solidFill>
                  <a:srgbClr val="5F7276"/>
                </a:solidFill>
                <a:latin typeface="Menlo"/>
              </a:rPr>
              <a:t>RADIOMICS EXPLORER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2009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100">
                <a:solidFill>
                  <a:srgbClr val="5F7276"/>
                </a:solidFill>
                <a:latin typeface="Menlo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66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20">
                <a:solidFill>
                  <a:srgbClr val="C66055"/>
                </a:solidFill>
                <a:latin typeface="Menlo"/>
              </a:rPr>
              <a:t>03 · RADIOMICS REQUIRED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6070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F2934"/>
                </a:solidFill>
                <a:latin typeface="Avenir Next"/>
              </a:rPr>
              <a:t>Upstream of this pipeline — and what's optional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88948"/>
            <a:ext cx="10881360" cy="47289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 b="1" i="0">
                <a:solidFill>
                  <a:srgbClr val="C66055"/>
                </a:solidFill>
                <a:latin typeface="Avenir Next"/>
              </a:rPr>
              <a:t>—  </a:t>
            </a:r>
            <a:r>
              <a:rPr sz="1700" b="1" i="0">
                <a:solidFill>
                  <a:srgbClr val="16333B"/>
                </a:solidFill>
                <a:latin typeface="Avenir Next"/>
              </a:rPr>
              <a:t>This pipeline does not segment images or extract features.</a:t>
            </a:r>
            <a:r>
              <a:rPr sz="1500" b="0" i="0">
                <a:solidFill>
                  <a:srgbClr val="5F7276"/>
                </a:solidFill>
                <a:latin typeface="Avenir Next"/>
              </a:rPr>
              <a:t>  it consumes an already-extracted, already-flattened CSV — typically PyRadiomics run on top of an existing tumor (and vessel) segmentation.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 b="1" i="0">
                <a:solidFill>
                  <a:srgbClr val="C66055"/>
                </a:solidFill>
                <a:latin typeface="Avenir Next"/>
              </a:rPr>
              <a:t>—  </a:t>
            </a:r>
            <a:r>
              <a:rPr sz="1700" b="1" i="0">
                <a:solidFill>
                  <a:srgbClr val="16333B"/>
                </a:solidFill>
                <a:latin typeface="Avenir Next"/>
              </a:rPr>
              <a:t>The naming convention is the real contract with the pipeline.</a:t>
            </a:r>
            <a:r>
              <a:rPr sz="1500" b="0" i="0">
                <a:solidFill>
                  <a:srgbClr val="5F7276"/>
                </a:solidFill>
                <a:latin typeface="Avenir Next"/>
              </a:rPr>
              <a:t>  {transform}_{family}_{measure}[_vessel] — get this right and region/family/transform filters, groupings, and display labels all derive automatically.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 b="1" i="0">
                <a:solidFill>
                  <a:srgbClr val="C66055"/>
                </a:solidFill>
                <a:latin typeface="Avenir Next"/>
              </a:rPr>
              <a:t>—  </a:t>
            </a:r>
            <a:r>
              <a:rPr sz="1700" b="1" i="0">
                <a:solidFill>
                  <a:srgbClr val="16333B"/>
                </a:solidFill>
                <a:latin typeface="Avenir Next"/>
              </a:rPr>
              <a:t>Shape features are supported by the schema but not present in this cohort.</a:t>
            </a:r>
            <a:r>
              <a:rPr sz="1500" b="0" i="0">
                <a:solidFill>
                  <a:srgbClr val="5F7276"/>
                </a:solidFill>
                <a:latin typeface="Avenir Next"/>
              </a:rPr>
              <a:t>  the current extraction has no shape family; the dashboard says so explicitly rather than pretending it was screened out.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 b="1" i="0">
                <a:solidFill>
                  <a:srgbClr val="C66055"/>
                </a:solidFill>
                <a:latin typeface="Avenir Next"/>
              </a:rPr>
              <a:t>—  </a:t>
            </a:r>
            <a:r>
              <a:rPr sz="1700" b="1" i="0">
                <a:solidFill>
                  <a:srgbClr val="16333B"/>
                </a:solidFill>
                <a:latin typeface="Avenir Next"/>
              </a:rPr>
              <a:t>Joint tumor–vessel relationship features are likewise optional.</a:t>
            </a:r>
            <a:r>
              <a:rPr sz="1500" b="0" i="0">
                <a:solidFill>
                  <a:srgbClr val="5F7276"/>
                </a:solidFill>
                <a:latin typeface="Avenir Next"/>
              </a:rPr>
              <a:t>  tumor and vessel were extracted independently here; adding spatial-relationship features later needs no pipeline changes — just matching columns in the CSV.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00">
                <a:solidFill>
                  <a:srgbClr val="5F7276"/>
                </a:solidFill>
                <a:latin typeface="Menlo"/>
              </a:rPr>
              <a:t>RADIOMICS EXPLORER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100">
                <a:solidFill>
                  <a:srgbClr val="5F7276"/>
                </a:solidFill>
                <a:latin typeface="Menlo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77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20">
                <a:solidFill>
                  <a:srgbClr val="377F7B"/>
                </a:solidFill>
                <a:latin typeface="Menlo"/>
              </a:rPr>
              <a:t>04 ·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6070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F2934"/>
                </a:solidFill>
                <a:latin typeface="Avenir Next"/>
              </a:rPr>
              <a:t>Three files out, one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88948"/>
            <a:ext cx="10881360" cy="47289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 b="1" i="0">
                <a:solidFill>
                  <a:srgbClr val="377F7B"/>
                </a:solidFill>
                <a:latin typeface="Avenir Next"/>
              </a:rPr>
              <a:t>—  </a:t>
            </a:r>
            <a:r>
              <a:rPr sz="1700" b="1" i="0">
                <a:solidFill>
                  <a:srgbClr val="16333B"/>
                </a:solidFill>
                <a:latin typeface="Avenir Next"/>
              </a:rPr>
              <a:t>analysis.json — aggregate results for the main dashboard.</a:t>
            </a:r>
            <a:r>
              <a:rPr sz="1500" b="0" i="0">
                <a:solidFill>
                  <a:srgbClr val="5F7276"/>
                </a:solidFill>
                <a:latin typeface="Avenir Next"/>
              </a:rPr>
              <a:t>  per endpoint: metrics with CIs, ROC/calibration/Kaplan–Meier curve points, the feature funnel, the top-50 feature table, validation design, and data-driven guardrail text.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 b="1" i="0">
                <a:solidFill>
                  <a:srgbClr val="377F7B"/>
                </a:solidFill>
                <a:latin typeface="Avenir Next"/>
              </a:rPr>
              <a:t>—  </a:t>
            </a:r>
            <a:r>
              <a:rPr sz="1700" b="1" i="0">
                <a:solidFill>
                  <a:srgbClr val="16333B"/>
                </a:solidFill>
                <a:latin typeface="Avenir Next"/>
              </a:rPr>
              <a:t>feature-explorer.json — cohort quality and per-feature statistics.</a:t>
            </a:r>
            <a:r>
              <a:rPr sz="1500" b="0" i="0">
                <a:solidFill>
                  <a:srgbClr val="5F7276"/>
                </a:solidFill>
                <a:latin typeface="Avenir Next"/>
              </a:rPr>
              <a:t>  powers the companion Feature Statistics page: data-quality audit, distribution stats, group comparisons, univariate discrimination.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 b="1" i="0">
                <a:solidFill>
                  <a:srgbClr val="377F7B"/>
                </a:solidFill>
                <a:latin typeface="Avenir Next"/>
              </a:rPr>
              <a:t>—  </a:t>
            </a:r>
            <a:r>
              <a:rPr sz="1700" b="1" i="0">
                <a:solidFill>
                  <a:srgbClr val="16333B"/>
                </a:solidFill>
                <a:latin typeface="Avenir Next"/>
              </a:rPr>
              <a:t>feature_rankings_*.csv — the full 2,064-row ranking, one file per endpoint.</a:t>
            </a:r>
            <a:r>
              <a:rPr sz="1500" b="0" i="0">
                <a:solidFill>
                  <a:srgbClr val="5F7276"/>
                </a:solidFill>
                <a:latin typeface="Avenir Next"/>
              </a:rPr>
              <a:t>  backs the dashboard's “download full ranking” links, beyond the top-50 shown in the UI.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 b="1" i="0">
                <a:solidFill>
                  <a:srgbClr val="377F7B"/>
                </a:solidFill>
                <a:latin typeface="Avenir Next"/>
              </a:rPr>
              <a:t>—  </a:t>
            </a:r>
            <a:r>
              <a:rPr sz="1700" b="1" i="0">
                <a:solidFill>
                  <a:srgbClr val="16333B"/>
                </a:solidFill>
                <a:latin typeface="Avenir Next"/>
              </a:rPr>
              <a:t>These three files are the only things that leave the Python environment.</a:t>
            </a:r>
            <a:r>
              <a:rPr sz="1500" b="0" i="0">
                <a:solidFill>
                  <a:srgbClr val="5F7276"/>
                </a:solidFill>
                <a:latin typeface="Avenir Next"/>
              </a:rPr>
              <a:t>  no patient rows, no identifiers, no per-patient predictions — ever.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00">
                <a:solidFill>
                  <a:srgbClr val="5F7276"/>
                </a:solidFill>
                <a:latin typeface="Menlo"/>
              </a:rPr>
              <a:t>RADIOMICS EXPLORER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100">
                <a:solidFill>
                  <a:srgbClr val="5F7276"/>
                </a:solidFill>
                <a:latin typeface="Menlo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77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20">
                <a:solidFill>
                  <a:srgbClr val="377F7B"/>
                </a:solidFill>
                <a:latin typeface="Menlo"/>
              </a:rPr>
              <a:t>04 ·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6070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F2934"/>
                </a:solidFill>
                <a:latin typeface="Avenir Next"/>
              </a:rPr>
              <a:t>Inside analysis.json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34668"/>
            <a:ext cx="10881360" cy="457200"/>
          </a:xfrm>
          <a:prstGeom prst="roundRect">
            <a:avLst>
              <a:gd name="adj" fmla="val 8000"/>
            </a:avLst>
          </a:prstGeom>
          <a:solidFill>
            <a:srgbClr val="0F29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3525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6A54C"/>
                </a:solidFill>
                <a:latin typeface="Menlo"/>
              </a:rPr>
              <a:t>{ meta, endpoints, clinicalContext, guardrails 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220468"/>
            <a:ext cx="274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5F7276"/>
                </a:solidFill>
                <a:latin typeface="Menlo"/>
              </a:rPr>
              <a:t>└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2238756"/>
            <a:ext cx="73152" cy="365760"/>
          </a:xfrm>
          <a:prstGeom prst="rect">
            <a:avLst/>
          </a:prstGeom>
          <a:solidFill>
            <a:srgbClr val="377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53312" y="2220468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F2934"/>
                </a:solidFill>
                <a:latin typeface="Menlo"/>
              </a:rPr>
              <a:t>meta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229612"/>
            <a:ext cx="66751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F7276"/>
                </a:solidFill>
                <a:latin typeface="Avenir Next"/>
              </a:rPr>
              <a:t>title, subtitle, patientCount, radiomicFeatureCount, tumor/vesselFeatureCount, join + QC counts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089148"/>
            <a:ext cx="274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5F7276"/>
                </a:solidFill>
                <a:latin typeface="Menlo"/>
              </a:rPr>
              <a:t>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107436"/>
            <a:ext cx="73152" cy="365760"/>
          </a:xfrm>
          <a:prstGeom prst="rect">
            <a:avLst/>
          </a:prstGeom>
          <a:solidFill>
            <a:srgbClr val="758A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53312" y="3089148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F2934"/>
                </a:solidFill>
                <a:latin typeface="Menlo"/>
              </a:rPr>
              <a:t>endpoints.survival / subtype / pcr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098292"/>
            <a:ext cx="66751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F7276"/>
                </a:solidFill>
                <a:latin typeface="Avenir Next"/>
              </a:rPr>
              <a:t>classes, metrics[] with 95% CI, ROC/calibration/KM curve points, featureFunnel, features[50], validation design, method steps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957828"/>
            <a:ext cx="274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5F7276"/>
                </a:solidFill>
                <a:latin typeface="Menlo"/>
              </a:rPr>
              <a:t>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3976116"/>
            <a:ext cx="73152" cy="365760"/>
          </a:xfrm>
          <a:prstGeom prst="rect">
            <a:avLst/>
          </a:prstGeom>
          <a:solidFill>
            <a:srgbClr val="D6A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53312" y="3957828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F2934"/>
                </a:solidFill>
                <a:latin typeface="Menlo"/>
              </a:rPr>
              <a:t>clinicalContext[]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3966972"/>
            <a:ext cx="66751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F7276"/>
                </a:solidFill>
                <a:latin typeface="Avenir Next"/>
              </a:rPr>
              <a:t>descriptive group-comparison rows — never used to select features or train a 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826508"/>
            <a:ext cx="274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5F7276"/>
                </a:solidFill>
                <a:latin typeface="Menlo"/>
              </a:rPr>
              <a:t>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4844796"/>
            <a:ext cx="73152" cy="365760"/>
          </a:xfrm>
          <a:prstGeom prst="rect">
            <a:avLst/>
          </a:prstGeom>
          <a:solidFill>
            <a:srgbClr val="C66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53312" y="4826508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F2934"/>
                </a:solidFill>
                <a:latin typeface="Menlo"/>
              </a:rPr>
              <a:t>guardrails[]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4835652"/>
            <a:ext cx="66751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F7276"/>
                </a:solidFill>
                <a:latin typeface="Avenir Next"/>
              </a:rPr>
              <a:t>data-driven caveats, e.g. observed-death counts — recomputed per dataset, never hardcoded prose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00">
                <a:solidFill>
                  <a:srgbClr val="5F7276"/>
                </a:solidFill>
                <a:latin typeface="Menlo"/>
              </a:rPr>
              <a:t>RADIOMICS EXPLORER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2009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100">
                <a:solidFill>
                  <a:srgbClr val="5F7276"/>
                </a:solidFill>
                <a:latin typeface="Menlo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77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20">
                <a:solidFill>
                  <a:srgbClr val="377F7B"/>
                </a:solidFill>
                <a:latin typeface="Menlo"/>
              </a:rPr>
              <a:t>04 · OUTPUT — 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6070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F2934"/>
                </a:solidFill>
                <a:latin typeface="Avenir Next"/>
              </a:rPr>
              <a:t>What a reader sees first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0799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5F7276"/>
                </a:solidFill>
                <a:latin typeface="Avenir Next"/>
              </a:rPr>
              <a:t>Every number here is read directly from analysis.json — nothing is written by hand.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15159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 spc="40">
                <a:solidFill>
                  <a:srgbClr val="5F7276"/>
                </a:solidFill>
                <a:latin typeface="Menlo"/>
              </a:rPr>
              <a:t>DASHBOARD HERO + PRIMARY RESULT</a:t>
            </a:r>
          </a:p>
        </p:txBody>
      </p:sp>
      <p:pic>
        <p:nvPicPr>
          <p:cNvPr id="7" name="Picture 6" descr="dash-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7599" y="2207767"/>
            <a:ext cx="7966322" cy="204895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453103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 spc="40">
                <a:solidFill>
                  <a:srgbClr val="5F7276"/>
                </a:solidFill>
                <a:latin typeface="Menlo"/>
              </a:rPr>
              <a:t>FULL METRIC GRID, WITH 95% BOOTSTRAP INTERVALS</a:t>
            </a:r>
          </a:p>
        </p:txBody>
      </p:sp>
      <p:pic>
        <p:nvPicPr>
          <p:cNvPr id="9" name="Picture 8" descr="dash-metr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823646"/>
            <a:ext cx="10881360" cy="14857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00">
                <a:solidFill>
                  <a:srgbClr val="5F7276"/>
                </a:solidFill>
                <a:latin typeface="Menlo"/>
              </a:rPr>
              <a:t>RADIOMICS EXPLORER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100">
                <a:solidFill>
                  <a:srgbClr val="5F7276"/>
                </a:solidFill>
                <a:latin typeface="Menlo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77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20">
                <a:solidFill>
                  <a:srgbClr val="377F7B"/>
                </a:solidFill>
                <a:latin typeface="Menlo"/>
              </a:rPr>
              <a:t>04 · OUTPUT — 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6070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F2934"/>
                </a:solidFill>
                <a:latin typeface="Avenir Next"/>
              </a:rPr>
              <a:t>Discrimination, as a curve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0799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5F7276"/>
                </a:solidFill>
                <a:latin typeface="Avenir Next"/>
              </a:rPr>
              <a:t>The classification endpoints show ROC curves in this same panel instead.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15159"/>
            <a:ext cx="108813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 spc="40">
                <a:solidFill>
                  <a:srgbClr val="5F7276"/>
                </a:solidFill>
                <a:latin typeface="Menlo"/>
              </a:rPr>
              <a:t>KAPLAN–MEIER CURVE, FROM analysis.json's survivalCurve.points</a:t>
            </a:r>
          </a:p>
        </p:txBody>
      </p:sp>
      <p:pic>
        <p:nvPicPr>
          <p:cNvPr id="7" name="Picture 6" descr="dash-survival-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1825" y="2162047"/>
            <a:ext cx="6817870" cy="41930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00">
                <a:solidFill>
                  <a:srgbClr val="5F7276"/>
                </a:solidFill>
                <a:latin typeface="Menlo"/>
              </a:rPr>
              <a:t>RADIOMICS EXPLORER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100">
                <a:solidFill>
                  <a:srgbClr val="5F7276"/>
                </a:solidFill>
                <a:latin typeface="Menlo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77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20">
                <a:solidFill>
                  <a:srgbClr val="377F7B"/>
                </a:solidFill>
                <a:latin typeface="Menlo"/>
              </a:rPr>
              <a:t>04 · OUTPUT — 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6070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F2934"/>
                </a:solidFill>
                <a:latin typeface="Avenir Next"/>
              </a:rPr>
              <a:t>The feature registry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57959"/>
            <a:ext cx="108813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 spc="40">
                <a:solidFill>
                  <a:srgbClr val="5F7276"/>
                </a:solidFill>
                <a:latin typeface="Menlo"/>
              </a:rPr>
              <a:t>TOP-50 STABILITY-RANKED FEATURES, FROM analysis.json's features[]</a:t>
            </a:r>
          </a:p>
        </p:txBody>
      </p:sp>
      <p:pic>
        <p:nvPicPr>
          <p:cNvPr id="6" name="Picture 5" descr="dash-feature-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6830" y="1704847"/>
            <a:ext cx="7207859" cy="46502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00">
                <a:solidFill>
                  <a:srgbClr val="5F7276"/>
                </a:solidFill>
                <a:latin typeface="Menlo"/>
              </a:rPr>
              <a:t>RADIOMICS EXPLORER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100">
                <a:solidFill>
                  <a:srgbClr val="5F7276"/>
                </a:solidFill>
                <a:latin typeface="Menlo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77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20">
                <a:solidFill>
                  <a:srgbClr val="377F7B"/>
                </a:solidFill>
                <a:latin typeface="Menlo"/>
              </a:rPr>
              <a:t>04 · OUTPUT — 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6070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F2934"/>
                </a:solidFill>
                <a:latin typeface="Avenir Next"/>
              </a:rPr>
              <a:t>The Feature Statistics companion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0799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5F7276"/>
                </a:solidFill>
                <a:latin typeface="Avenir Next"/>
              </a:rPr>
              <a:t>Backed by feature-explorer.json — data quality, distributions, and univariate discrimination per feature.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15159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 spc="40">
                <a:solidFill>
                  <a:srgbClr val="5F7276"/>
                </a:solidFill>
                <a:latin typeface="Menlo"/>
              </a:rPr>
              <a:t>COHORT STRIP, FROM feature-explorer.json's meta</a:t>
            </a:r>
          </a:p>
        </p:txBody>
      </p:sp>
      <p:pic>
        <p:nvPicPr>
          <p:cNvPr id="7" name="Picture 6" descr="fe-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207767"/>
            <a:ext cx="10881360" cy="108089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3562981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 spc="40">
                <a:solidFill>
                  <a:srgbClr val="5F7276"/>
                </a:solidFill>
                <a:latin typeface="Menlo"/>
              </a:rPr>
              <a:t>PER-FEATURE DISTRIBUTION + PERCENTILE CALCULATOR</a:t>
            </a:r>
          </a:p>
        </p:txBody>
      </p:sp>
      <p:pic>
        <p:nvPicPr>
          <p:cNvPr id="9" name="Picture 8" descr="fe-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8551" y="3855589"/>
            <a:ext cx="4144417" cy="245376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00">
                <a:solidFill>
                  <a:srgbClr val="5F7276"/>
                </a:solidFill>
                <a:latin typeface="Menlo"/>
              </a:rPr>
              <a:t>RADIOMICS EXPLORER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100">
                <a:solidFill>
                  <a:srgbClr val="5F7276"/>
                </a:solidFill>
                <a:latin typeface="Menlo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66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20">
                <a:solidFill>
                  <a:srgbClr val="C66055"/>
                </a:solidFill>
                <a:latin typeface="Menlo"/>
              </a:rPr>
              <a:t>05 · GUARDRAIL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6070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F2934"/>
                </a:solidFill>
                <a:latin typeface="Avenir Next"/>
              </a:rPr>
              <a:t>What never appears in the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88948"/>
            <a:ext cx="10881360" cy="47289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 b="1" i="0">
                <a:solidFill>
                  <a:srgbClr val="C66055"/>
                </a:solidFill>
                <a:latin typeface="Avenir Next"/>
              </a:rPr>
              <a:t>—  </a:t>
            </a:r>
            <a:r>
              <a:rPr sz="1700" b="0" i="0">
                <a:solidFill>
                  <a:srgbClr val="16333B"/>
                </a:solidFill>
                <a:latin typeface="Avenir Next"/>
              </a:rPr>
              <a:t>No patient identifiers, accession numbers, or free-text notes.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 b="1" i="0">
                <a:solidFill>
                  <a:srgbClr val="C66055"/>
                </a:solidFill>
                <a:latin typeface="Avenir Next"/>
              </a:rPr>
              <a:t>—  </a:t>
            </a:r>
            <a:r>
              <a:rPr sz="1700" b="1" i="0">
                <a:solidFill>
                  <a:srgbClr val="16333B"/>
                </a:solidFill>
                <a:latin typeface="Avenir Next"/>
              </a:rPr>
              <a:t>No per-patient predicted probabilities, risk scores, or model outputs.</a:t>
            </a:r>
            <a:r>
              <a:rPr sz="1500" b="0" i="0">
                <a:solidFill>
                  <a:srgbClr val="5F7276"/>
                </a:solidFill>
                <a:latin typeface="Avenir Next"/>
              </a:rPr>
              <a:t>  every curve and table is built from pooled, aggregated out-of-fold predictions.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 b="1" i="0">
                <a:solidFill>
                  <a:srgbClr val="C66055"/>
                </a:solidFill>
                <a:latin typeface="Avenir Next"/>
              </a:rPr>
              <a:t>—  </a:t>
            </a:r>
            <a:r>
              <a:rPr sz="1700" b="1" i="0">
                <a:solidFill>
                  <a:srgbClr val="16333B"/>
                </a:solidFill>
                <a:latin typeface="Avenir Next"/>
              </a:rPr>
              <a:t>No row-level data of any kind.</a:t>
            </a:r>
            <a:r>
              <a:rPr sz="1500" b="0" i="0">
                <a:solidFill>
                  <a:srgbClr val="5F7276"/>
                </a:solidFill>
                <a:latin typeface="Avenir Next"/>
              </a:rPr>
              <a:t>  only aggregates, curve points, and ranked feature lists ever leave the Python environment.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 b="1" i="0">
                <a:solidFill>
                  <a:srgbClr val="C66055"/>
                </a:solidFill>
                <a:latin typeface="Avenir Next"/>
              </a:rPr>
              <a:t>—  </a:t>
            </a:r>
            <a:r>
              <a:rPr sz="1700" b="1" i="0">
                <a:solidFill>
                  <a:srgbClr val="16333B"/>
                </a:solidFill>
                <a:latin typeface="Avenir Next"/>
              </a:rPr>
              <a:t>This boundary is structural, not a display filter.</a:t>
            </a:r>
            <a:r>
              <a:rPr sz="1500" b="0" i="0">
                <a:solidFill>
                  <a:srgbClr val="5F7276"/>
                </a:solidFill>
                <a:latin typeface="Avenir Next"/>
              </a:rPr>
              <a:t>  the dashboard has no code path that reads a per-patient value — it physically cannot render what isn't in the JSON.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00">
                <a:solidFill>
                  <a:srgbClr val="5F7276"/>
                </a:solidFill>
                <a:latin typeface="Menlo"/>
              </a:rPr>
              <a:t>RADIOMICS EXPLORER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100">
                <a:solidFill>
                  <a:srgbClr val="5F7276"/>
                </a:solidFill>
                <a:latin typeface="Menlo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9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6A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20">
                <a:solidFill>
                  <a:srgbClr val="D6A54C"/>
                </a:solidFill>
                <a:latin typeface="Menlo"/>
              </a:rPr>
              <a:t>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venir Next"/>
              </a:rPr>
              <a:t>What to remember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377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Menlo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2121408"/>
            <a:ext cx="98755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 i="0">
                <a:solidFill>
                  <a:srgbClr val="FFFFFF"/>
                </a:solidFill>
                <a:latin typeface="Avenir Next"/>
              </a:rPr>
              <a:t>Use cases: survival, subtype, and pCR today — any similarly shaped cohort tomorrow.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06324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377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Menlo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3081528"/>
            <a:ext cx="98755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 i="0">
                <a:solidFill>
                  <a:srgbClr val="FFFFFF"/>
                </a:solidFill>
                <a:latin typeface="Avenir Next"/>
              </a:rPr>
              <a:t>Input is exactly two files: a radiomics CSV and a clinical workbook, joined on patient ID.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02336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377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Menlo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4041648"/>
            <a:ext cx="98755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 i="0">
                <a:solidFill>
                  <a:srgbClr val="FFFFFF"/>
                </a:solidFill>
                <a:latin typeface="Avenir Next"/>
              </a:rPr>
              <a:t>Required radiomics: tumor (+ optional vessel) region, 12 transforms, 5 families — named by one fixed convention.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98348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377F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Menlo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5001768"/>
            <a:ext cx="98755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 i="0">
                <a:solidFill>
                  <a:srgbClr val="FFFFFF"/>
                </a:solidFill>
                <a:latin typeface="Avenir Next"/>
              </a:rPr>
              <a:t>Output is exactly three files, and the dashboard is a read-only mirror of them — aggregate only, end to end.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00">
                <a:solidFill>
                  <a:srgbClr val="5F7276"/>
                </a:solidFill>
                <a:latin typeface="Menlo"/>
              </a:rPr>
              <a:t>RADIOMICS EXPLORER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100">
                <a:solidFill>
                  <a:srgbClr val="5F7276"/>
                </a:solidFill>
                <a:latin typeface="Menlo"/>
              </a:rP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