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27432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D6A54C"/>
                </a:solidFill>
                <a:latin typeface="Menlo"/>
              </a:rPr>
              <a:t>GOAL · USE CASES · RATIONALE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venir Next"/>
              </a:rPr>
              <a:t>Radiomics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AE6"/>
                </a:solidFill>
                <a:latin typeface="Avenir Next"/>
              </a:rPr>
              <a:t>A leakage-aware feature-selection pipeline for radiomics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276"/>
                </a:solidFill>
                <a:latin typeface="Menlo"/>
              </a:rPr>
              <a:t>Illustrated with the Duke breast MRI cohort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6400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F2934"/>
                </a:solidFill>
                <a:latin typeface="Menlo"/>
              </a:rPr>
              <a:t>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01 · 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Turn thousands of correlated radiomic features into a defensible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66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Find features that generalize — not features that merely 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0968"/>
            <a:ext cx="10881360" cy="380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Every reported feature must survive re-derivation on data the model never saw.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not just fit the cohort it was discovered in.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Estimate how well radiomics predicts an outcome — honestly, with uncertainty attached.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 confidence interval, not a single flattering number.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Report aggregate results only.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no patient identifiers, no patient-level predictions, anywhere in the output.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Work the same way for any cancer type or cohort that shares the schema.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not a one-off script tied to one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C66055"/>
                </a:solidFill>
                <a:latin typeface="Menlo"/>
              </a:rPr>
              <a:t>02 ·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Why naive feature selection fails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Too many features, too few patients.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~2,000+ radiomic features against a cohort of hundreds — classic high-dimension, low-sample-size.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Features are highly inter-correlated.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same tumor region, related texture families — redundant signal inflates apparent significance.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Selecting features on the full dataset leaks information.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if the test set influenced which features were chosen, the reported performance is optimistic and won't replicate.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Multiple testing turns noise into “significant” features.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thousands of univariate tests need correction, not cherry-picking.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02 ·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The design principles that follow from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Screen, prune, and tune only inside training folds.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test data is never allowed to influence which features are chosen.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Prefer effect size and confidence interval over a bare p-value.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 CI that excludes the chance line is a stronger claim than “p &lt; 0.05.”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Prefer sparse, linear, auditable models over black boxes.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L1 regularization; every surviving feature has a visible, checkable coefficient.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Recompute everything from data — hardcode no dataset-specific narrative.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same code and the same slide narrative apply to a different cohort.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03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Three clinical endpoints, one shared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337560" cy="109728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934"/>
                </a:solidFill>
                <a:latin typeface="Avenir Next"/>
              </a:rPr>
              <a:t>Overall survival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59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77F7B"/>
                </a:solidFill>
                <a:latin typeface="Menlo"/>
              </a:rPr>
              <a:t>TIME-TO-EVENT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20439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0331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59351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Cox proportional hazards
(elastic-net, L1-weighted)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3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19471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Concordance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59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shown first — the most clinically
consequential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74519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74519"/>
            <a:ext cx="3337560" cy="109728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1945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934"/>
                </a:solidFill>
                <a:latin typeface="Avenir Next"/>
              </a:rPr>
              <a:t>Molecular subtype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08959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758AC7"/>
                </a:solidFill>
                <a:latin typeface="Menlo"/>
              </a:rPr>
              <a:t>4-CLASS CLASSIFICATION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520439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1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59351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Class-weighted L1
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66343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19471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Macro ROC 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166359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one-vs-rest scoring across
all subtypes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1874519"/>
            <a:ext cx="33375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1874519"/>
            <a:ext cx="3337560" cy="109728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194559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2934"/>
                </a:solidFill>
                <a:latin typeface="Avenir Next"/>
              </a:rPr>
              <a:t>Pathologic complete
response (pCR)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108959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D6A54C"/>
                </a:solidFill>
                <a:latin typeface="Menlo"/>
              </a:rPr>
              <a:t>BINARY CLASSIFICATION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520439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70331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959351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Class-weighted L1
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66343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919471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ROC 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166359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strict overall-response field
used as a pCR proxy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758AC7"/>
                </a:solidFill>
                <a:latin typeface="Menlo"/>
              </a:rPr>
              <a:t>03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Not tied to one hospital or one cancer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Built and validated on the Duke breast MRI radiomics cohort.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772 patients, 2,064 tumor and peritumoral-vessel features.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The pipeline and the dashboard both key off a fixed JSON schema.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survival / subtype / pCR endpoints — not off anything Duke-specific.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Run the same Python pipeline on a differently formatted cohort and the dashboard adapts automatically.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titles, feature counts, and every number in the interpretation text are recomputed from the new data.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A dataset can be loaded into the dashboard at runtime, with no rebuild.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upload the pipeline's JSON output through the browser; nothing leaves the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The pipeline, six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F7276"/>
                </a:solidFill>
                <a:latin typeface="Avenir Next"/>
              </a:rPr>
              <a:t>Run independently for each endpoint — same six steps, different label and model family.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Cohort &amp; label
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One row per patient;
exact ID join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55367.5" y="3337560.0"/>
            <a:ext cx="256032.0" cy="0.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1399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8559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8559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Radiomics-only
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8559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Clinical fields removed
from predictors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1599.5" y="3337560.0"/>
            <a:ext cx="256032.0" cy="0.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67631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4791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791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Training-fold
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4791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Univariate rank +
redundancy pruning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7831.5" y="3337560.0"/>
            <a:ext cx="256032.0" cy="0.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23863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1023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Sparse
conventional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1023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L1 logistic /
elastic-net Cox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24063.5" y="3337560.0"/>
            <a:ext cx="256032.0" cy="0.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80095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7255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7255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Nested
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7255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5×3 outer,
3-fold inner CV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0295.5" y="3337560.0"/>
            <a:ext cx="256032.0" cy="0.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36327" y="2377440"/>
            <a:ext cx="1600200" cy="192024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3487" y="254203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A54C"/>
                </a:solidFill>
                <a:latin typeface="Menlo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3487" y="2971800"/>
            <a:ext cx="1325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Stability
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487" y="3749040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DCEAE6"/>
                </a:solidFill>
                <a:latin typeface="Avenir Next"/>
              </a:rPr>
              <a:t>Selection frequency
across folds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F7276"/>
                </a:solidFill>
                <a:latin typeface="Avenir Next"/>
              </a:rPr>
              <a:t>Every training-fold step (03–04) is refit independently inside each of the 15 outer/inner splits — the held-out fold never influences which features are screened, pruned, or weighted.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 — STEPS 01–02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Build a clean, leakage-free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One row per patient, joined by exact patient ID.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radiomics table and clinical workbook merged on an unambiguous key.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Endpoint-specific rows are excluded, not imputed.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e.g. missing follow-up time or non-positive follow-up drops a patient from the survival cohort only.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The predictor matrix is radiomics only — tumor and peritumoral-vessel features.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model never sees a pixel of clinical data.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Clinical fields are explicitly removed before the matrix is built.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molecular subtype, receptor status, menopause status, etc. may only ever supply labels or descriptive context — never predictors.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 — STEP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Screen and prune — inside training folds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Rank every feature with a fast univariate statistic.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ANOVA F for the two classification endpoints; univariate concordance index for survival.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Keep the top k candidates.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k ∈ {25, 50, 100} — tried in the inner loop, not fixed in advance.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Drop redundant features.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if |Spearman ρ| ≥ 0.90 against a higher-ranked feature, keep only the higher-ranked one.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Refit this screen from scratch on every training fold.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ranking and the redundancy graph can legitimately differ fold to fold — that variability is the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 — STEP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Fit a sparse, interpretable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Z-score every surviving feature before fitting.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puts heterogeneous radiomic scales on comparable footing.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Classification endpoints: class-weighted L1 logistic regression.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class weighting corrects for subtype / pCR class imbalance; C tuned in the inner loop.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Survival endpoint: elastic-net Cox proportional hazards, l1_ratio = 1.0.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pure L1 penalty despite the “elastic-net” machinery; penalizer strength tuned in the inner loop.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L1 regularization drives weak coefficients to exactly zero.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surviving nonzero coefficients are the model's entire feature set — nothing hidden in a black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 — STEP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Nested cross-validation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89607" y="1828800"/>
            <a:ext cx="8412480" cy="3657600"/>
          </a:xfrm>
          <a:prstGeom prst="roundRect">
            <a:avLst>
              <a:gd name="adj" fmla="val 4000"/>
            </a:avLst>
          </a:prstGeom>
          <a:solidFill>
            <a:srgbClr val="DCEAE6"/>
          </a:solidFill>
          <a:ln w="19050">
            <a:solidFill>
              <a:srgbClr val="377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20574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40">
                <a:solidFill>
                  <a:srgbClr val="377F7B"/>
                </a:solidFill>
                <a:latin typeface="Menlo"/>
              </a:rPr>
              <a:t>OUTER LOOP — 5-fold × 3 repeats = 15 independent train / test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647" y="24505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F7276"/>
                </a:solidFill>
                <a:latin typeface="Avenir Next"/>
              </a:rPr>
              <a:t>unbiased estimate of held-out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9767" y="3063240"/>
            <a:ext cx="5852160" cy="1417320"/>
          </a:xfrm>
          <a:prstGeom prst="roundRect">
            <a:avLst>
              <a:gd name="adj" fmla="val 6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4087" y="32461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40">
                <a:solidFill>
                  <a:srgbClr val="D6A54C"/>
                </a:solidFill>
                <a:latin typeface="Menlo"/>
              </a:rPr>
              <a:t>INNER LOOP — 3-fold grid search (training data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4087" y="363016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venir Next"/>
              </a:rPr>
              <a:t>picks screening size k and regularization strength (C / penalizer)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087" y="39776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DCEAE6"/>
                </a:solidFill>
                <a:latin typeface="Avenir Next"/>
              </a:rPr>
              <a:t>never sees the outer fold's held-out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647" y="466344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6333B"/>
                </a:solidFill>
                <a:latin typeface="Avenir Next"/>
              </a:rPr>
              <a:t>Out-of-fold predictions from all 15 outer folds are pooled, then resampled 1,000 times to build 95% bootstrap confidence intervals on every reported metric.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METHOD — STEP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Rank features by stability, not by luck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Selection frequency across the 15 outer folds.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strongest evidence a feature carries real, reproducible signal — “stable” means selected in ≥50% of folds.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Standardized coefficient magnitude.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how much weight the model placed on the feature, on a comparable scale.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Univariate effect size — or hazard ratio for survival.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 single-feature-alone view, for interpretability.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Benjamini–Hochberg FDR correction on full-cohort significance (q &lt; 0.05).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reported separately from stability; easier to satisfy and does not by itself validate a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05 · ILLUSTRATIVE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2934"/>
                </a:solidFill>
                <a:latin typeface="Avenir Next"/>
              </a:rPr>
              <a:t>Same pipeline, three honestly different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F7276"/>
                </a:solidFill>
                <a:latin typeface="Avenir Next"/>
              </a:rPr>
              <a:t>Duke breast MRI cohort — 772 patients, 2,064 radiomic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210312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057400"/>
            <a:ext cx="82296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2057400"/>
            <a:ext cx="228600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2057400"/>
            <a:ext cx="118872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2057400"/>
            <a:ext cx="192024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2057400"/>
            <a:ext cx="2560320" cy="50292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762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762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762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PRIMARY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7627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17627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95%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76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40">
                <a:solidFill>
                  <a:srgbClr val="FFFFFF"/>
                </a:solidFill>
                <a:latin typeface="Menlo"/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6032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256032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25603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2560320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56032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56032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560320"/>
            <a:ext cx="64008" cy="54864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67919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Overall survival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67919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560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67919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Concordance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6791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934"/>
                </a:solidFill>
                <a:latin typeface="Avenir Next"/>
              </a:rPr>
              <a:t>0.665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67919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0.581 – 0.740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64261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377F7B"/>
                </a:solidFill>
                <a:latin typeface="Avenir Next"/>
              </a:rPr>
              <a:t>Real, moderate signal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08960"/>
            <a:ext cx="210312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3108960"/>
            <a:ext cx="82296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66160" y="3108960"/>
            <a:ext cx="228600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52160" y="3108960"/>
            <a:ext cx="118872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108960"/>
            <a:ext cx="192024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0" y="3108960"/>
            <a:ext cx="2560320" cy="54864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3108960"/>
            <a:ext cx="64008" cy="548640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22783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Molecular subtype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322783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772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322783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Macro ROC AUC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22783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934"/>
                </a:solidFill>
                <a:latin typeface="Avenir Next"/>
              </a:rPr>
              <a:t>0.548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22783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0.517 – 0.583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319125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3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8A631E"/>
                </a:solidFill>
                <a:latin typeface="Avenir Next"/>
              </a:rPr>
              <a:t>Narrow, borderline signal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65760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0" y="3657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6160" y="36576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52160" y="3657600"/>
            <a:ext cx="11887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40880" y="36576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3657600"/>
            <a:ext cx="2560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3657600"/>
            <a:ext cx="64008" cy="54864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7764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pCR proxy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37764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238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377647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ROC AUC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377647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2934"/>
                </a:solidFill>
                <a:latin typeface="Avenir Next"/>
              </a:rPr>
              <a:t>0.428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77647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0.339 – 0.520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373989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5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C66055"/>
                </a:solidFill>
                <a:latin typeface="Avenir Next"/>
              </a:rPr>
              <a:t>No reproducible signal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5262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F7276"/>
                </a:solidFill>
                <a:latin typeface="Avenir Next"/>
              </a:rPr>
              <a:t>The pipeline reports negative results as plainly as positive ones — pCR shows no reproducible radiomics-only signature, and the dashboard says so instead of promoting its top-ranked features as a finding.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C66055"/>
                </a:solidFill>
                <a:latin typeface="Menlo"/>
              </a:rPr>
              <a:t>06 ·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What this analysis cannot establish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0" i="0">
                <a:solidFill>
                  <a:srgbClr val="16333B"/>
                </a:solidFill>
                <a:latin typeface="Avenir Next"/>
              </a:rPr>
              <a:t>Exploratory, retrospective analysis — not a clinical decision tool.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No external validation cohort.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internal cross-validation estimates generalization within this cohort; it cannot establish transportability to a new site or scanner.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No repeat scans, repeat segmentations, or scanner/protocol metadata.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feature stability under segmentation variability and batch effects remains unknown.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Confidence intervals summarize pooled out-of-fold predictions only.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they do not capture uncertainty from every upstream preprocessing choice.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Low event counts can dominate precision.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e.g. 50 observed deaths limits the survival concordance interval more than the 560-patient sample size alone suggests.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D6A54C"/>
                </a:solidFill>
                <a:latin typeface="Menl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venir Next"/>
              </a:rPr>
              <a:t>What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2140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venir Next"/>
              </a:rPr>
              <a:t>One auditable pipeline, three clinical endpoints, any radiomics cohort with the same schema.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08152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venir Next"/>
              </a:rPr>
              <a:t>Leakage-aware by construction — screening, pruning, and tuning all happen inside training folds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4164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venir Next"/>
              </a:rPr>
              <a:t>Reports uncertainty and negative results as honestly as positive 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00176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Avenir Next"/>
              </a:rPr>
              <a:t>Output is aggregate-only: safe to share, easy to audit, easy to re-point at a new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